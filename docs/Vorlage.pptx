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D7B152F-C563-3567-6C89-DC017889CB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78257-4D26-58EE-1A03-2338A2B3A3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DDC4C-1508-4B7A-861F-A7638B763E6E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3491F-F80F-1C62-4C64-063DF597D5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2558D-DDBF-B560-B356-42F289FF9F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5C6DBA-779C-40FB-BC0F-9F176EC847C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92132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B8ACA-50E8-4244-AA62-C485773FE94C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20316-8298-43DA-ABA3-DC71B287D9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91324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F4AF-2ED6-E0FC-B956-8232872F8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864A5-0C94-1A83-4F25-317B4C8B0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84CE3-94E7-7A6D-A1BE-993903E47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8F56-71C4-4F05-9975-DEE190726671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A72D7-5C8F-8B85-24F4-0C9774CE8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EC5FF-FED0-3A2E-2573-22CDB0C4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404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1DB3-5D5D-834A-BD14-134E732BE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2B0AA-A993-B621-5F4C-1FB4A7A70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3AA03-54D9-E1C0-253A-78617DC4C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CD9C-AD29-4F6D-BBF1-5A9B948CFC8C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6FCBB-2B55-29CC-43DC-E1DD1755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686DE-F236-1D7A-65A2-F375F28AA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0188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B738-6DA7-3E0A-A469-0FD9FD4A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61D2F-C7E6-410F-E0D5-AD35FE2A5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78EA7-5FFB-7C84-4F1A-0594E295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D8F10-5012-438C-92BF-D47E0760C784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1162D-54DC-ABD1-39BB-ABF22A3A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EF9BA-E960-47A9-89F1-AB0C257B8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1997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FC20-B66A-C818-14FD-9B4B10F57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2082E-EB72-1182-2FB5-2E9424975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88428-9C44-2611-7BF6-350274637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80538-BB02-7B5C-B4E6-3C9DD7D7B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D5740-70D9-46EB-A297-BA128806F795}" type="datetime1">
              <a:rPr lang="de-DE" smtClean="0"/>
              <a:t>04.03.2026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C9A02-A3ED-A4F4-3E47-F07527F7A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B9B3C-5A61-346F-5A27-2D3E5F0C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298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0F5D-C917-8D4C-BBC0-E5D0908C4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3A699-7C7F-814D-9025-CCB2BFD1A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CB259-A960-9B68-86E7-9E873C02A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3382C8-4714-03D9-81C1-9AA621E36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48871-9ECB-1694-23B8-ED573D52B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6CEB40-19A5-0D9B-3858-FFB62814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1CDA4-A8BF-468D-B6B9-5F66BF603D05}" type="datetime1">
              <a:rPr lang="de-DE" smtClean="0"/>
              <a:t>04.03.2026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0457B-E45B-6C6A-91FE-654B2E45F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502C4C-640D-3D4B-CEAB-4A283DB9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67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F6A0-4D3D-9965-C8F0-5C46322B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9419B-A20D-E46F-1FC0-FADBDE1B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01B0-C841-4845-A4E3-0F4F62754DAD}" type="datetime1">
              <a:rPr lang="de-DE" smtClean="0"/>
              <a:t>04.03.2026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93465-56E4-13D4-D036-6A7BE8B7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0D097-0A0C-EB5C-4E5D-1A1D9F53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6797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63DEA-077D-9D13-851B-807EEA877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115A7-D7A7-4840-91B9-77D8173CF602}" type="datetime1">
              <a:rPr lang="de-DE" smtClean="0"/>
              <a:t>04.03.2026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1A1E7-537F-F3FD-681D-60CEF8ED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4A4DC-199C-EBA6-48C8-C0637A5E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263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2771C-EB50-60C1-56FC-8B04F1634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E8EA-AEB0-047D-D0D1-4D755E2AC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0558E-FFCA-1FBC-80E3-E101778D9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34D2A-A47F-83C0-EDC5-6C81368D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E560-4C60-43C7-914B-01728EF0F71D}" type="datetime1">
              <a:rPr lang="de-DE" smtClean="0"/>
              <a:t>04.03.2026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FB14E-6EE5-D7A0-5BF1-AC21D78B6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1B654-A82A-6509-6B6A-F9B52167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080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67806-9913-3408-0581-FCE09EB01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8F4F0-53E0-89EB-8B80-BE6C5CE01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58F01-AAD9-B90B-7818-933784726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127F0-8144-485E-CF0D-DB7F20874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713B8-5F3E-4586-98AD-91E690D33AE9}" type="datetime1">
              <a:rPr lang="de-DE" smtClean="0"/>
              <a:t>04.03.2026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863F6-6CF4-5A06-8B64-FAA31ACB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55034-80D2-A0EE-56E9-8A4ED86FA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632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D979-2DA9-15C0-DE05-1AA31CD8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F403D-5E13-78BE-3642-31FA99DB0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53B51-E831-E742-2BDD-F24C01147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ECFC9-3CB1-4D27-9FC3-9344364D5FD1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C9B1B-FE21-6775-7C41-906F706B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6DCD3-5C89-9A64-5590-FFB5E1C9B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870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9DFD7C-F0CB-D37B-A447-0F09CEBBB8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53BA8-ECB4-2103-C024-F1CAAE838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D0E17-B63D-4AA3-6F93-0E546BCEF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B2EC-E974-4234-9E60-55A0523E9751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459FE-8F4D-AF25-FE10-9ECBE62AC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8B843-D7EC-252C-062C-D51FDBFDD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4730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ADA80A-B8C4-8745-E7F8-49FC17AF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3F5E1-AA32-8993-BC42-C8CA88421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2ED14-38F5-0D73-1454-05AFB680C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DBEBB-966B-4FBC-AC54-AAF3D589AEFC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15666-9BA6-84A0-6690-4B4D77976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949E5-D56E-4CAB-74B4-0443718F2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EE46D4-924F-4E74-843B-77CD354457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0475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E721BA-8E8C-64D1-B94E-099B13E91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endParaRPr lang="de-DE" sz="52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532F2-D458-0C6B-E899-0B4098F9B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de-DE" sz="600" b="1" dirty="0">
                <a:solidFill>
                  <a:schemeClr val="tx2"/>
                </a:solidFill>
              </a:rPr>
              <a:t>Anforderungsanalyse, UML-Domänenmodell &amp; API-Design (REST)</a:t>
            </a:r>
            <a:endParaRPr lang="de-DE" sz="6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sz="600" dirty="0">
                <a:solidFill>
                  <a:schemeClr val="tx2"/>
                </a:solidFill>
              </a:rPr>
              <a:t>Ziel: Von Idee → klare Anforderungen → fachliches Modell → saubere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600" dirty="0">
                <a:solidFill>
                  <a:schemeClr val="tx2"/>
                </a:solidFill>
              </a:rPr>
              <a:t>Beispielsystem: </a:t>
            </a:r>
            <a:r>
              <a:rPr lang="de-DE" sz="600" i="1" dirty="0">
                <a:solidFill>
                  <a:schemeClr val="tx2"/>
                </a:solidFill>
              </a:rPr>
              <a:t>Event-Management-System</a:t>
            </a:r>
            <a:endParaRPr lang="de-DE" sz="6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sz="600" dirty="0">
                <a:solidFill>
                  <a:schemeClr val="tx2"/>
                </a:solidFill>
              </a:rPr>
              <a:t>Fokus: testbar, eindeutig, umsetzbar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19774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1DA112B-C2BF-DED7-7BAB-21A3E1E11B1D}"/>
              </a:ext>
            </a:extLst>
          </p:cNvPr>
          <p:cNvSpPr txBox="1"/>
          <p:nvPr/>
        </p:nvSpPr>
        <p:spPr>
          <a:xfrm>
            <a:off x="6090574" y="801866"/>
            <a:ext cx="5306084" cy="523063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Anforderungen formulieren (Kernidee)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Anforderungen beschreiben </a:t>
            </a:r>
            <a:r>
              <a:rPr lang="en-US" b="1">
                <a:solidFill>
                  <a:schemeClr val="tx2"/>
                </a:solidFill>
              </a:rPr>
              <a:t>WAS</a:t>
            </a:r>
            <a:r>
              <a:rPr lang="en-US">
                <a:solidFill>
                  <a:schemeClr val="tx2"/>
                </a:solidFill>
              </a:rPr>
              <a:t>, nicht </a:t>
            </a:r>
            <a:r>
              <a:rPr lang="en-US" b="1">
                <a:solidFill>
                  <a:schemeClr val="tx2"/>
                </a:solidFill>
              </a:rPr>
              <a:t>WIE</a:t>
            </a:r>
            <a:endParaRPr lang="en-US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Ziel: </a:t>
            </a:r>
            <a:r>
              <a:rPr lang="en-US" b="1">
                <a:solidFill>
                  <a:schemeClr val="tx2"/>
                </a:solidFill>
              </a:rPr>
              <a:t>klare, testbare Spezifikation</a:t>
            </a:r>
            <a:endParaRPr lang="en-US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2 Typen: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FR</a:t>
            </a:r>
            <a:r>
              <a:rPr lang="en-US">
                <a:solidFill>
                  <a:schemeClr val="tx2"/>
                </a:solidFill>
              </a:rPr>
              <a:t> (funktional): Verhalten/Funktionen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NFR</a:t>
            </a:r>
            <a:r>
              <a:rPr lang="en-US">
                <a:solidFill>
                  <a:schemeClr val="tx2"/>
                </a:solidFill>
              </a:rPr>
              <a:t> (nicht-funktional): Qualitätsziele (Performance, Sicherheit, …)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Nummerierung: </a:t>
            </a:r>
            <a:r>
              <a:rPr lang="en-US" b="1">
                <a:solidFill>
                  <a:schemeClr val="tx2"/>
                </a:solidFill>
              </a:rPr>
              <a:t>FR1, FR2, … / NFR1, NFR2, …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DA41849-2178-C1BD-9B55-326D1543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655E-5616-46F3-9F91-E976B8F9D79C}" type="datetime1">
              <a:rPr lang="de-DE" smtClean="0"/>
              <a:t>04.03.2026</a:t>
            </a:fld>
            <a:endParaRPr lang="de-D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8F8BBB-5F92-3EFA-DE28-E5362A19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B2CE24-9D85-E200-EF5F-B4F4DBA5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3444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FDD00C4-0D11-3E3E-6913-485853BA8F1F}"/>
              </a:ext>
            </a:extLst>
          </p:cNvPr>
          <p:cNvSpPr txBox="1"/>
          <p:nvPr/>
        </p:nvSpPr>
        <p:spPr>
          <a:xfrm>
            <a:off x="5257800" y="1553134"/>
            <a:ext cx="6128539" cy="3751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Qualitätsmerkmale guter Anforderungen + typische Fehler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Gute Anforderungen sind</a:t>
            </a:r>
            <a:endParaRPr lang="en-US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eindeutig, atomar, testbar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vollständig, konsistent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lösungsneutral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Typische Fehler</a:t>
            </a:r>
            <a:endParaRPr lang="en-US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schwammig („schnell“, „intuitiv“)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mehrere Anforderungen in einem Satz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technische Lösung statt fachliche Aussage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keine Nummerierung/keine Testbarkeit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857F3-930E-D9A9-0661-7749DAE9C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7211-EE80-4598-93BC-BF19F64A3884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F794-4691-7515-E9E9-E59FAFA6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57047-90BF-C4F0-E0F8-9FCB0484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23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13F2BDA-852D-6057-5035-2811F6D62EC6}"/>
              </a:ext>
            </a:extLst>
          </p:cNvPr>
          <p:cNvSpPr txBox="1"/>
          <p:nvPr/>
        </p:nvSpPr>
        <p:spPr>
          <a:xfrm>
            <a:off x="1179226" y="2890979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Funktional vs. Nicht-funktional (Beispiele)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FR-Beispiele</a:t>
            </a:r>
            <a:endParaRPr lang="en-US" sz="15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FR1: Event anlegen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FR2: Event anzeigen (per ID)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FR8: Mitarbeiter zu Event hinzufügen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NFR-Beispiele</a:t>
            </a:r>
            <a:endParaRPr lang="en-US" sz="15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NFR1: Antwortzeit &lt; 2s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NFR4: Zugriff nur für autorisierte User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NFR3: modulare Struktur / Schichtenarchitektur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E29DA-C0F0-3BEE-F2A1-157BBCD5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E5EBE-C524-45F5-B1A1-7719851EC7F3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BEE7-B0CD-6FD2-18E5-A3A0925A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859C9-C49B-E696-7738-FD96654D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938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1AD52F8-33AD-E336-E7DB-2223E253CE6E}"/>
              </a:ext>
            </a:extLst>
          </p:cNvPr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Priorisierung (MoSCoW)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Must:</a:t>
            </a:r>
            <a:r>
              <a:rPr lang="en-US">
                <a:solidFill>
                  <a:schemeClr val="tx2"/>
                </a:solidFill>
              </a:rPr>
              <a:t> nötig fürs Minimum-System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Should:</a:t>
            </a:r>
            <a:r>
              <a:rPr lang="en-US">
                <a:solidFill>
                  <a:schemeClr val="tx2"/>
                </a:solidFill>
              </a:rPr>
              <a:t> wichtig, aber notfalls später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Could:</a:t>
            </a:r>
            <a:r>
              <a:rPr lang="en-US">
                <a:solidFill>
                  <a:schemeClr val="tx2"/>
                </a:solidFill>
              </a:rPr>
              <a:t> nice-to-have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Won’t (now):</a:t>
            </a:r>
            <a:r>
              <a:rPr lang="en-US">
                <a:solidFill>
                  <a:schemeClr val="tx2"/>
                </a:solidFill>
              </a:rPr>
              <a:t> bewusst out of scope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Beispiel: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Must: CRUD Events, CRUD Mitarbeiter, Zuordnung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Should: max. Teilnehmerzahl erzwingen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Could: Swagger/OpenAPI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55D0E-6D27-B11E-FC55-E3E3B4C7F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FDDA2-A9D3-459B-B899-9A35E4624E5A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ACE9B-37EC-9036-2CAE-80F3B429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0FC57-DA04-3FA8-D2F7-96B9CFBB1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368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F313F65-FF7E-120A-01D3-CFAAE6382450}"/>
              </a:ext>
            </a:extLst>
          </p:cNvPr>
          <p:cNvSpPr txBox="1"/>
          <p:nvPr/>
        </p:nvSpPr>
        <p:spPr>
          <a:xfrm>
            <a:off x="5257800" y="1553134"/>
            <a:ext cx="6128539" cy="3751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Domänenmodell (UML) – Wozu?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Ziel: </a:t>
            </a:r>
            <a:r>
              <a:rPr lang="en-US" b="1">
                <a:solidFill>
                  <a:schemeClr val="tx2"/>
                </a:solidFill>
              </a:rPr>
              <a:t>fachliche Struktur</a:t>
            </a:r>
            <a:r>
              <a:rPr lang="en-US">
                <a:solidFill>
                  <a:schemeClr val="tx2"/>
                </a:solidFill>
              </a:rPr>
              <a:t> darstellen (kein Technik-Kram)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Schritte: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Klassen identifizieren (z. B. Event, Employee)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Attribute definieren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Beziehungen modellieren (inkl. Multiplizität)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Beispiel: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Event 1 — 0..* Employee (Teilnehmer)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9062D-8E36-6A41-256B-A4F55C612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47CC9-516B-4ACD-B9C6-2F0D9E167F7A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404FC-08BB-8787-F3F4-688193AB3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4C8B9-8A3B-F1DC-3CAC-05854C4C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1420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9EDCA1-1F14-A9DB-79AE-FE4DE27299A6}"/>
              </a:ext>
            </a:extLst>
          </p:cNvPr>
          <p:cNvSpPr txBox="1"/>
          <p:nvPr/>
        </p:nvSpPr>
        <p:spPr>
          <a:xfrm>
            <a:off x="5257800" y="1553134"/>
            <a:ext cx="6128539" cy="3751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UML-Beziehungen (Prüfungs-Falle)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Assoziation:</a:t>
            </a:r>
            <a:r>
              <a:rPr lang="en-US">
                <a:solidFill>
                  <a:schemeClr val="tx2"/>
                </a:solidFill>
              </a:rPr>
              <a:t> „kennt/hat Beziehung zu“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Aggregation:</a:t>
            </a:r>
            <a:r>
              <a:rPr lang="en-US">
                <a:solidFill>
                  <a:schemeClr val="tx2"/>
                </a:solidFill>
              </a:rPr>
              <a:t> Teil-Ganzes, Teil lebt auch ohne Ganzes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Komposition:</a:t>
            </a:r>
            <a:r>
              <a:rPr lang="en-US">
                <a:solidFill>
                  <a:schemeClr val="tx2"/>
                </a:solidFill>
              </a:rPr>
              <a:t> Teil hängt am Lebenszyklus des Ganzen („stirbt mit“)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Merksatz: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Komposition = „gehört wirklich dazu“ (stark)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18624-076B-28D4-BC1E-546603AE8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2D47-ABD6-48A4-B264-FFEA9F262E57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E2E36-E354-ADAB-BCE3-D0DC15FD0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43AB1-01CB-F232-19F0-8FD5E917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642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65CE681-788F-0F0B-9552-AD1B6F1FD9FB}"/>
              </a:ext>
            </a:extLst>
          </p:cNvPr>
          <p:cNvSpPr txBox="1"/>
          <p:nvPr/>
        </p:nvSpPr>
        <p:spPr>
          <a:xfrm>
            <a:off x="6632812" y="1032987"/>
            <a:ext cx="4919108" cy="4792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2"/>
                </a:solidFill>
              </a:rPr>
              <a:t>Schritt 4: API-Design planen (REST)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Ressourcen definieren: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/api/events, /api/employees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HTTP-Methoden (CRUD):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POST (Create), GET (Read), PUT/PATCH (Update), DELETE (Delete)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Statuscodes festlegen: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200 OK, 201 Created, 404 Not Found, 409 Conflict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Beispiel: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POST /api/events → 201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GET /api/events/{id} → 200 oder 404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AB140-4FCE-0DA8-DF92-1E950C7F6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35D28-269E-42ED-83BD-8C2588DEAD61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2F77F-D1B1-278F-F64E-93678CE0A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DFCA-277F-1554-5D1B-F7D21718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5408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20286C0-E073-1120-0958-FB40C5774D9A}"/>
              </a:ext>
            </a:extLst>
          </p:cNvPr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Gesamtfluss (Pipeline)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Anforderungen → UML → API</a:t>
            </a:r>
            <a:endParaRPr lang="en-US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Anforderungen: was + Qualität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Domänenmodell: fachliche Struktur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API: konkrete Schnittstelle zur Umsetzung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Ergebnis: weniger Chaos, bessere Tests, weniger Missverständnisse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3E936-17AE-F26E-34AC-34C7F9FE9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85FD0-0EF5-4929-A7B1-254E864CE867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ECD51-DC38-CACD-EA19-5DC3E346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Jesslyn Großmann &amp; Severina Francic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FE2E-278C-7EDC-35D6-038004A5D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46D4-924F-4E74-843B-77CD354457A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1368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k79601</dc:creator>
  <cp:lastModifiedBy>k79601</cp:lastModifiedBy>
  <cp:revision>1</cp:revision>
  <dcterms:created xsi:type="dcterms:W3CDTF">2026-03-04T21:08:18Z</dcterms:created>
  <dcterms:modified xsi:type="dcterms:W3CDTF">2026-03-04T21:21:21Z</dcterms:modified>
</cp:coreProperties>
</file>